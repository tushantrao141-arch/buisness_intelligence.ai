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4667eb6564f20" /><Relationship Type="http://schemas.openxmlformats.org/officeDocument/2006/relationships/extended-properties" Target="/docProps/app.xml" Id="R6818cd5520cb4827" /><Relationship Type="http://schemas.openxmlformats.org/officeDocument/2006/relationships/officeDocument" Target="/ppt/presentation.xml" Id="Rd57de4465bac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075c50e8dd4c92"/>
  </p:sldMasterIdLst>
  <p:notesMasterIdLst>
    <p:notesMasterId xmlns:r="http://schemas.openxmlformats.org/officeDocument/2006/relationships" r:id="Rc077a651ae6b46a4"/>
  </p:notesMasterIdLst>
  <p:sldIdLst>
    <p:sldId xmlns:r="http://schemas.openxmlformats.org/officeDocument/2006/relationships" id="256" r:id="Ra9b14c2d6d5444cb"/>
    <p:sldId xmlns:r="http://schemas.openxmlformats.org/officeDocument/2006/relationships" id="257" r:id="R45d9650e11b4474e"/>
    <p:sldId xmlns:r="http://schemas.openxmlformats.org/officeDocument/2006/relationships" id="258" r:id="R7f8465a239134ca0"/>
    <p:sldId xmlns:r="http://schemas.openxmlformats.org/officeDocument/2006/relationships" id="259" r:id="Rabdb767e9b0b4379"/>
    <p:sldId xmlns:r="http://schemas.openxmlformats.org/officeDocument/2006/relationships" id="260" r:id="Rc6b8d267fd9c410c"/>
    <p:sldId xmlns:r="http://schemas.openxmlformats.org/officeDocument/2006/relationships" id="261" r:id="Rd411646c20ba4271"/>
    <p:sldId xmlns:r="http://schemas.openxmlformats.org/officeDocument/2006/relationships" id="262" r:id="R7f6df7c7520d4cc1"/>
    <p:sldId xmlns:r="http://schemas.openxmlformats.org/officeDocument/2006/relationships" id="263" r:id="R7ac4d4142e374ccd"/>
    <p:sldId xmlns:r="http://schemas.openxmlformats.org/officeDocument/2006/relationships" id="264" r:id="R30c323eae8ba45bf"/>
    <p:sldId xmlns:r="http://schemas.openxmlformats.org/officeDocument/2006/relationships" id="265" r:id="Ra3dfc4da69eb4733"/>
    <p:sldId xmlns:r="http://schemas.openxmlformats.org/officeDocument/2006/relationships" id="266" r:id="R375891cbdcb84a39"/>
    <p:sldId xmlns:r="http://schemas.openxmlformats.org/officeDocument/2006/relationships" id="267" r:id="Ra0a2a40f74ac4510"/>
    <p:sldId xmlns:r="http://schemas.openxmlformats.org/officeDocument/2006/relationships" id="268" r:id="Refc07d1ebde9429f"/>
    <p:sldId xmlns:r="http://schemas.openxmlformats.org/officeDocument/2006/relationships" id="269" r:id="R3ba0230a857e4a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2b6814e5ba4a88" /><Relationship Type="http://schemas.openxmlformats.org/officeDocument/2006/relationships/slideMaster" Target="/ppt/slideMasters/slideMaster1.xml" Id="R98075c50e8dd4c92" /><Relationship Type="http://schemas.openxmlformats.org/officeDocument/2006/relationships/notesMaster" Target="/ppt/notesMasters/notesMaster1.xml" Id="Rc077a651ae6b46a4" /><Relationship Type="http://schemas.openxmlformats.org/officeDocument/2006/relationships/presProps" Target="/ppt/presProps.xml" Id="R0b6918ab67ce4123" /><Relationship Type="http://schemas.openxmlformats.org/officeDocument/2006/relationships/tableStyles" Target="/ppt/tableStyles.xml" Id="R56599d2cddf3480d" /><Relationship Type="http://schemas.openxmlformats.org/officeDocument/2006/relationships/slide" Target="/ppt/slides/slide1.xml" Id="Ra9b14c2d6d5444cb" /><Relationship Type="http://schemas.openxmlformats.org/officeDocument/2006/relationships/slide" Target="/ppt/slides/slide2.xml" Id="R45d9650e11b4474e" /><Relationship Type="http://schemas.openxmlformats.org/officeDocument/2006/relationships/slide" Target="/ppt/slides/slide3.xml" Id="R7f8465a239134ca0" /><Relationship Type="http://schemas.openxmlformats.org/officeDocument/2006/relationships/slide" Target="/ppt/slides/slide4.xml" Id="Rabdb767e9b0b4379" /><Relationship Type="http://schemas.openxmlformats.org/officeDocument/2006/relationships/slide" Target="/ppt/slides/slide5.xml" Id="Rc6b8d267fd9c410c" /><Relationship Type="http://schemas.openxmlformats.org/officeDocument/2006/relationships/slide" Target="/ppt/slides/slide6.xml" Id="Rd411646c20ba4271" /><Relationship Type="http://schemas.openxmlformats.org/officeDocument/2006/relationships/slide" Target="/ppt/slides/slide7.xml" Id="R7f6df7c7520d4cc1" /><Relationship Type="http://schemas.openxmlformats.org/officeDocument/2006/relationships/slide" Target="/ppt/slides/slide8.xml" Id="R7ac4d4142e374ccd" /><Relationship Type="http://schemas.openxmlformats.org/officeDocument/2006/relationships/slide" Target="/ppt/slides/slide9.xml" Id="R30c323eae8ba45bf" /><Relationship Type="http://schemas.openxmlformats.org/officeDocument/2006/relationships/slide" Target="/ppt/slides/slide10.xml" Id="Ra3dfc4da69eb4733" /><Relationship Type="http://schemas.openxmlformats.org/officeDocument/2006/relationships/slide" Target="/ppt/slides/slide11.xml" Id="R375891cbdcb84a39" /><Relationship Type="http://schemas.openxmlformats.org/officeDocument/2006/relationships/slide" Target="/ppt/slides/slide12.xml" Id="Ra0a2a40f74ac4510" /><Relationship Type="http://schemas.openxmlformats.org/officeDocument/2006/relationships/slide" Target="/ppt/slides/slide13.xml" Id="Refc07d1ebde9429f" /><Relationship Type="http://schemas.openxmlformats.org/officeDocument/2006/relationships/slide" Target="/ppt/slides/slide14.xml" Id="R3ba0230a857e4a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52ca911e4f4e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9807657e44dbf" /><Relationship Type="http://schemas.openxmlformats.org/officeDocument/2006/relationships/notesMaster" Target="/ppt/notesMasters/notesMaster1.xml" Id="Re8f4408b728244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3799360b6b46d2" /><Relationship Type="http://schemas.openxmlformats.org/officeDocument/2006/relationships/notesMaster" Target="/ppt/notesMasters/notesMaster1.xml" Id="Rcb9721097e4b48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049635b7b3493f" /><Relationship Type="http://schemas.openxmlformats.org/officeDocument/2006/relationships/notesMaster" Target="/ppt/notesMasters/notesMaster1.xml" Id="R7d5df0eeea274c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6662b06474ab4" /><Relationship Type="http://schemas.openxmlformats.org/officeDocument/2006/relationships/notesMaster" Target="/ppt/notesMasters/notesMaster1.xml" Id="R94f102d8fd9641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4d4483c2ce4400" /><Relationship Type="http://schemas.openxmlformats.org/officeDocument/2006/relationships/notesMaster" Target="/ppt/notesMasters/notesMaster1.xml" Id="R391a6c3e852c47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0aeaa5958e4b04" /><Relationship Type="http://schemas.openxmlformats.org/officeDocument/2006/relationships/notesMaster" Target="/ppt/notesMasters/notesMaster1.xml" Id="R531063e572814f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d7f463a9ff4013" /><Relationship Type="http://schemas.openxmlformats.org/officeDocument/2006/relationships/notesMaster" Target="/ppt/notesMasters/notesMaster1.xml" Id="R7fe69d11cdb3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9df30f77a64877" /><Relationship Type="http://schemas.openxmlformats.org/officeDocument/2006/relationships/notesMaster" Target="/ppt/notesMasters/notesMaster1.xml" Id="Re7f5300ca1d74f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3e2769263b4125" /><Relationship Type="http://schemas.openxmlformats.org/officeDocument/2006/relationships/notesMaster" Target="/ppt/notesMasters/notesMaster1.xml" Id="R25ed83b1861a44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80b0b4b7a94245" /><Relationship Type="http://schemas.openxmlformats.org/officeDocument/2006/relationships/notesMaster" Target="/ppt/notesMasters/notesMaster1.xml" Id="Ra78fc1d22c19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dd541c320c4bd4" /><Relationship Type="http://schemas.openxmlformats.org/officeDocument/2006/relationships/notesMaster" Target="/ppt/notesMasters/notesMaster1.xml" Id="Rd19d15c828ac4d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90ef44cec04219" /><Relationship Type="http://schemas.openxmlformats.org/officeDocument/2006/relationships/notesMaster" Target="/ppt/notesMasters/notesMaster1.xml" Id="R863849bb2dfd49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59d3f47ba4d4c4a" /><Relationship Type="http://schemas.openxmlformats.org/officeDocument/2006/relationships/notesMaster" Target="/ppt/notesMasters/notesMaster1.xml" Id="R2cc9e9f4a3ab46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4d284eeb1d406a" /><Relationship Type="http://schemas.openxmlformats.org/officeDocument/2006/relationships/notesMaster" Target="/ppt/notesMasters/notesMaster1.xml" Id="R7e24dab01bc746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problem, not the technology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a controlled operating-model pilot, not a production AML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docs/PRODUCT_SPEC.md</a:t>
            </a:r>
          </a:p>
          <a:p xmlns:a="http://schemas.openxmlformats.org/drawingml/2006/main">
            <a:r>
              <a:t>- docs/REQUIREMENTS_MATRIX.md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docs/PRODUCT_SPEC.md</a:t>
            </a:r>
          </a:p>
          <a:p xmlns:a="http://schemas.openxmlformats.org/drawingml/2006/main">
            <a:r>
              <a:t>- docs/JUDGE_READINESS.md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sections 7, 9, and 10</a:t>
            </a:r>
          </a:p>
          <a:p xmlns:a="http://schemas.openxmlformats.org/drawingml/2006/main">
            <a:r>
              <a:t>- docs/PRODUCT_SPEC.md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configs/users.yaml</a:t>
            </a:r>
          </a:p>
          <a:p xmlns:a="http://schemas.openxmlformats.org/drawingml/2006/main">
            <a:r>
              <a:t>- configs/action_playbooks.yaml</a:t>
            </a:r>
          </a:p>
          <a:p xmlns:a="http://schemas.openxmlformats.org/drawingml/2006/main">
            <a:r>
              <a:t>- docs/PRODUCT_SPEC.md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docs/DATA_SPEC.md</a:t>
            </a:r>
          </a:p>
          <a:p xmlns:a="http://schemas.openxmlformats.org/drawingml/2006/main">
            <a:r>
              <a:t>- docs/KPI_SPEC.md</a:t>
            </a:r>
          </a:p>
          <a:p xmlns:a="http://schemas.openxmlformats.org/drawingml/2006/main">
            <a:r>
              <a:t>- data/raw/source_metadata.json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docs/EXPECTED_RESULTS.md</a:t>
            </a:r>
          </a:p>
          <a:p xmlns:a="http://schemas.openxmlformats.org/drawingml/2006/main">
            <a:r>
              <a:t>- docs/EVALUATION_REPORT.md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docs/EXPECTED_RESULTS.md</a:t>
            </a:r>
          </a:p>
          <a:p xmlns:a="http://schemas.openxmlformats.org/drawingml/2006/main">
            <a:r>
              <a:t>- configs/settings.yaml</a:t>
            </a:r>
          </a:p>
          <a:p xmlns:a="http://schemas.openxmlformats.org/drawingml/2006/main">
            <a:r>
              <a:t>- docs/OWNER_HANDBOOK.md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section 10</a:t>
            </a:r>
          </a:p>
          <a:p xmlns:a="http://schemas.openxmlformats.org/drawingml/2006/main">
            <a:r>
              <a:t>- configs/settings.yaml</a:t>
            </a:r>
          </a:p>
          <a:p xmlns:a="http://schemas.openxmlformats.org/drawingml/2006/main">
            <a:r>
              <a:t>- configs/users.yaml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docs/EVALUATION_REPORT.md</a:t>
            </a:r>
          </a:p>
          <a:p xmlns:a="http://schemas.openxmlformats.org/drawingml/2006/main">
            <a:r>
              <a:t>- docs/BUILD_STATUS.md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docs/OWNER_HANDBOOK.md</a:t>
            </a:r>
          </a:p>
          <a:p xmlns:a="http://schemas.openxmlformats.org/drawingml/2006/main">
            <a:r>
              <a:t>- configs/action_playbooks.yaml</a:t>
            </a:r>
          </a:p>
          <a:p xmlns:a="http://schemas.openxmlformats.org/drawingml/2006/main">
            <a:r>
              <a:t>- Proposal formulas are measurement methods, not measured benefit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docs/DEPLOYMENT.md</a:t>
            </a:r>
          </a:p>
          <a:p xmlns:a="http://schemas.openxmlformats.org/drawingml/2006/main">
            <a:r>
              <a:t>- docs/OWNER_HANDBOOK.md</a:t>
            </a:r>
          </a:p>
          <a:p xmlns:a="http://schemas.openxmlformats.org/drawingml/2006/main">
            <a:r>
              <a:t>- Pilot scope and resourcing are proposal assumptions for judge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docs/BUILD_PLAYBOOK.md</a:t>
            </a:r>
          </a:p>
          <a:p xmlns:a="http://schemas.openxmlformats.org/drawingml/2006/main">
            <a:r>
              <a:t>- docs/DEPLOYMENT.md</a:t>
            </a:r>
          </a:p>
          <a:p xmlns:a="http://schemas.openxmlformats.org/drawingml/2006/main">
            <a:r>
              <a:t>- The twelve-week sequence is a proposed pilot plan, not an implemented production rollout.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docs/PRODUCT_SPEC.md</a:t>
            </a:r>
          </a:p>
          <a:p xmlns:a="http://schemas.openxmlformats.org/drawingml/2006/main">
            <a:r>
              <a:t>- docs/REQUIREMENTS_MATRIX.md</a:t>
            </a:r>
          </a:p>
          <a:p xmlns:a="http://schemas.openxmlformats.org/drawingml/2006/main">
            <a:r>
              <a:t>- The approval ask is a proposal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edcd39d6641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4556262ff644bf" /><Relationship Type="http://schemas.openxmlformats.org/officeDocument/2006/relationships/slideLayout" Target="/ppt/slideLayouts/slideLayout1.xml" Id="Rb6c2cba7eb6d49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c2cba7eb6d49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8b18b13974da8" /><Relationship Type="http://schemas.openxmlformats.org/officeDocument/2006/relationships/notesSlide" Target="/ppt/notesSlides/notesSlide1.xml" Id="Re3472ff2e1f9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c81908dbd4a5e" /><Relationship Type="http://schemas.openxmlformats.org/officeDocument/2006/relationships/notesSlide" Target="/ppt/notesSlides/notesSlide2.xml" Id="Rafd4bf5bda1a46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a6b669b92461e" /><Relationship Type="http://schemas.openxmlformats.org/officeDocument/2006/relationships/notesSlide" Target="/ppt/notesSlides/notesSlide3.xml" Id="R4ca009874a7c4e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f913e7e5e4c8c" /><Relationship Type="http://schemas.openxmlformats.org/officeDocument/2006/relationships/notesSlide" Target="/ppt/notesSlides/notesSlide4.xml" Id="Rb33000c7db5e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6f37bbd4e45e7" /><Relationship Type="http://schemas.openxmlformats.org/officeDocument/2006/relationships/notesSlide" Target="/ppt/notesSlides/notesSlide5.xml" Id="Refc6a57e460749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320f3f53214632" /><Relationship Type="http://schemas.openxmlformats.org/officeDocument/2006/relationships/notesSlide" Target="/ppt/notesSlides/notesSlide6.xml" Id="R805cc968b669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50b497e3a4861" /><Relationship Type="http://schemas.openxmlformats.org/officeDocument/2006/relationships/notesSlide" Target="/ppt/notesSlides/notesSlide7.xml" Id="Rfe67cb8fd8ca47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745068c0547c7" /><Relationship Type="http://schemas.openxmlformats.org/officeDocument/2006/relationships/notesSlide" Target="/ppt/notesSlides/notesSlide8.xml" Id="R45959c66dc0148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8d58ceea14c4a" /><Relationship Type="http://schemas.openxmlformats.org/officeDocument/2006/relationships/notesSlide" Target="/ppt/notesSlides/notesSlide9.xml" Id="R97fd3c0276134e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8b596d55040c5" /><Relationship Type="http://schemas.openxmlformats.org/officeDocument/2006/relationships/chart" Target="/ppt/slides/charts/chart1.xml" Id="R9dcc26e440c14055" /><Relationship Type="http://schemas.openxmlformats.org/officeDocument/2006/relationships/notesSlide" Target="/ppt/notesSlides/notesSlide10.xml" Id="R8aaaa167fda2447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05e3660304515" /><Relationship Type="http://schemas.openxmlformats.org/officeDocument/2006/relationships/notesSlide" Target="/ppt/notesSlides/notesSlide11.xml" Id="R5881a65c282a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1bc154d4f412e" /><Relationship Type="http://schemas.openxmlformats.org/officeDocument/2006/relationships/notesSlide" Target="/ppt/notesSlides/notesSlide12.xml" Id="R5d2f19b1541847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67467f73a4e58" /><Relationship Type="http://schemas.openxmlformats.org/officeDocument/2006/relationships/notesSlide" Target="/ppt/notesSlides/notesSlide13.xml" Id="R902eefc95d294c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c106017f84122" /><Relationship Type="http://schemas.openxmlformats.org/officeDocument/2006/relationships/notesSlide" Target="/ppt/notesSlides/notesSlide14.xml" Id="R1a3931102df64a4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F1 (%)</c:v>
          </c:tx>
          <c:spPr>
            <a:solidFill xmlns:a="http://schemas.openxmlformats.org/drawingml/2006/main">
              <a:srgbClr val="58DCC0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8E9ED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657D9"/>
              </a:solidFill>
            </c:spPr>
          </c:dPt>
          <c:cat>
            <c:strLit>
              <c:ptCount val="4"/>
              <c:pt idx="0">
                <c:v>Threshold</c:v>
              </c:pt>
              <c:pt idx="1">
                <c:v>Movement</c:v>
              </c:pt>
              <c:pt idx="2">
                <c:v>Movement + proximity</c:v>
              </c:pt>
              <c:pt idx="3">
                <c:v>Full SilentSignal</c:v>
              </c:pt>
            </c:strLit>
          </c:cat>
          <c:val>
            <c:numLit>
              <c:formatCode>General</c:formatCode>
              <c:ptCount val="4"/>
              <c:pt idx="0">
                <c:v>0</c:v>
              </c:pt>
              <c:pt idx="1">
                <c:v>66.7</c:v>
              </c:pt>
              <c:pt idx="2">
                <c:v>66.7</c:v>
              </c:pt>
              <c:pt idx="3">
                <c:v>100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F6B7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9A555-9DDE-48A5-9966-655C550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85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ACCENTURE BUSINESSINTELLIGENCE.AI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E2BC3-9DC8-4500-A896-70FA044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9532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D1A35-E5E7-4844-BAC7-6D1BE255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8286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DE3EF"/>
                </a:solidFill>
                <a:latin typeface="Arial"/>
                <a:ea typeface="Arial"/>
                <a:cs typeface="Arial"/>
              </a:defRPr>
            </a:pPr>
            <a:r>
              <a:t>A detailed business proposal for evidence-first banking risk operations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95300" y="3810000"/>
            <a:ext cx="5810250" cy="191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4A556B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055A5-5734-4CD0-9EF0-17EF9CEE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8953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CC6D8"/>
                </a:solidFill>
                <a:latin typeface="Arial"/>
                <a:ea typeface="Arial"/>
                <a:cs typeface="Arial"/>
              </a:defRPr>
            </a:pPr>
            <a:r>
              <a:t>Governed KPI movement  •  Connected evidence  •  Honest uncertainty  •  Authorized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B02F4-39C4-493C-B5F1-F3D21A64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723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9CD"/>
                </a:solidFill>
                <a:latin typeface="Arial"/>
                <a:ea typeface="Arial"/>
                <a:cs typeface="Arial"/>
              </a:defRPr>
            </a:pPr>
            <a:r>
              <a:t>Synthetic prototype  |  Version 1.0.0  |  Judge submission</a:t>
            </a:r>
          </a:p>
        </p:txBody>
      </p:sp>
      <p:sp>
        <p:nvSpPr>
          <p:cNvPr id="7" name="cover-aqua">
            <a:extLst xmlns:a="http://schemas.openxmlformats.org/drawingml/2006/main">
              <a:ext uri="{FF2B5EF4-FFF2-40B4-BE49-F238E27FC236}">
                <a16:creationId xmlns:a16="http://schemas.microsoft.com/office/drawing/2014/main" id="{37408E0D-FFE0-49D0-B0C5-0A5F7247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38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8" name="cover-purple">
            <a:extLst xmlns:a="http://schemas.openxmlformats.org/drawingml/2006/main">
              <a:ext uri="{FF2B5EF4-FFF2-40B4-BE49-F238E27FC236}">
                <a16:creationId xmlns:a16="http://schemas.microsoft.com/office/drawing/2014/main" id="{B2155476-D137-4C30-97F6-DD171A5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8155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54746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28C800-5E8D-4474-B4FE-499D3E4E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B1D7F-3607-4719-8382-276B7DE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EXECUTIVE PROPOSITION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595F3A-D5D5-4E78-8E93-6D3201A8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608A72E-E23D-4FEC-B6F2-D744B24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5134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Approve a controlled pilot that makes KPI movement decision-ready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EAF6E-BF24-4126-B576-4968923B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THE PROPOSAL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1E88F-D2B4-4098-A069-ACB1AD11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49530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Deploy SilentSignal as a non-production decision-support pilot for compliance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60482-5E6C-46E5-A80E-A653610E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95300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Start with three governed sources, five connected KPIs, and two operational personas. Keep every quantitative result deterministic and every customer-impacting decision human-reviewed.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115050" y="1809750"/>
            <a:ext cx="1905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7EB88-F3EB-4B3C-BED0-28677C9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08480-35C9-414D-8E47-2F9BAB5F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Faster prioritization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F25F2-AF49-4671-8993-0875BC94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0980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Move from a dashboard movement to ranked evidence and a permitted next step.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572250" y="2990850"/>
            <a:ext cx="4648200" cy="191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0D6102-B71F-4581-B1BB-529A61EF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6C02E-3185-4AA5-B4E0-F5892A29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0040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Safer 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682E4-9D47-4C35-955E-5E0E0587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Show alternatives, missing evidence, abstention, and access restrictions before action.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6572250" y="4381500"/>
            <a:ext cx="4648200" cy="191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2BD54-B363-44C6-98D7-AEC1A2A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514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6080F-3550-425F-A846-A364834D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4000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Measurable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54866-39F8-440D-A6B6-A40CECE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91100"/>
            <a:ext cx="4000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Track latency, model usage, feedback, action outcomes, and KPI impact.</a:t>
            </a:r>
          </a:p>
        </p:txBody>
      </p:sp>
    </p:spTree>
    <p:extLst>
      <p:ext uri="{BB962C8B-B14F-4D97-AF65-F5344CB8AC3E}">
        <p14:creationId xmlns:p14="http://schemas.microsoft.com/office/powerpoint/2010/main" val="1972157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2780B-0B5B-4D3D-81C0-EFF05E03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C16C9-CA74-4C1B-A59E-D3EBB7DD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BUSINESS PROBLEM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E88CD-0492-42F1-A59E-65FCA7E9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C14A8A-0139-4621-A524-FA0237B1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35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Today’s tools show signals, but leave the review decision fragmented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7529A-313A-47A5-8574-7AD0708D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The information exists; the traceable path from movement to action does not.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904875" y="3114675"/>
            <a:ext cx="990600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8" name="problem-node-0">
            <a:extLst xmlns:a="http://schemas.openxmlformats.org/drawingml/2006/main">
              <a:ext uri="{FF2B5EF4-FFF2-40B4-BE49-F238E27FC236}">
                <a16:creationId xmlns:a16="http://schemas.microsoft.com/office/drawing/2014/main" id="{F92DD5B8-3568-41C5-A1E3-39EE5FB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EFA24-15BC-4193-BED8-739B80E8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88253-EB53-43DF-916D-A12423EB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KPI moved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7889E-E77B-467A-A5B1-6EAFB2D3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No ranked explanation</a:t>
            </a:r>
          </a:p>
        </p:txBody>
      </p:sp>
      <p:sp>
        <p:nvSpPr>
          <p:cNvPr id="12" name="problem-node-1">
            <a:extLst xmlns:a="http://schemas.openxmlformats.org/drawingml/2006/main">
              <a:ext uri="{FF2B5EF4-FFF2-40B4-BE49-F238E27FC236}">
                <a16:creationId xmlns:a16="http://schemas.microsoft.com/office/drawing/2014/main" id="{F6DBCF97-8E74-4C52-920B-65EE18B3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8A28D-2185-476C-99C3-9F5D0CC1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Transactions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D9456-15C9-42FD-A607-C0CC8515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Events and thresholds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028CE-9AC6-4087-BA8A-89D1A920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Relationships remain hidden</a:t>
            </a:r>
          </a:p>
        </p:txBody>
      </p:sp>
      <p:sp>
        <p:nvSpPr>
          <p:cNvPr id="16" name="problem-node-2">
            <a:extLst xmlns:a="http://schemas.openxmlformats.org/drawingml/2006/main">
              <a:ext uri="{FF2B5EF4-FFF2-40B4-BE49-F238E27FC236}">
                <a16:creationId xmlns:a16="http://schemas.microsoft.com/office/drawing/2014/main" id="{14FF067D-B7B6-4D19-ABFB-8C2904A4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45F75-A17D-4BD9-AEAA-C9DC5BCD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KYC and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C96A1-37B0-4D07-BF62-7FC1625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Context and capacity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19D7A-AC1C-428C-932C-F00A8E3B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Freshness is hard to judge</a:t>
            </a:r>
          </a:p>
        </p:txBody>
      </p:sp>
      <p:sp>
        <p:nvSpPr>
          <p:cNvPr id="20" name="problem-node-3">
            <a:extLst xmlns:a="http://schemas.openxmlformats.org/drawingml/2006/main">
              <a:ext uri="{FF2B5EF4-FFF2-40B4-BE49-F238E27FC236}">
                <a16:creationId xmlns:a16="http://schemas.microsoft.com/office/drawing/2014/main" id="{E89909CC-4CA2-4E1B-914B-70180E5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81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DE0FB-648D-44D7-B8F6-4C8C3FD0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479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E3B70-0459-4530-A6A2-E61DB68D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290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Manual synthesis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F9FF06-B925-45E2-BF4A-5D537A14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05250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Action and rationale vary</a:t>
            </a:r>
          </a:p>
        </p:txBody>
      </p:sp>
      <p:sp>
        <p:nvSpPr>
          <p:cNvPr id="24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531C6155-4FD2-47FB-80AE-6FC82960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1CA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B12BA5-5449-4DDB-985D-463C546C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t>Operational consequence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6D990-420E-47C8-BCC1-04D1319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72075"/>
            <a:ext cx="74866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Important connected patterns can be missed, weak evidence can be overstated, and scarce investigation capacity can be allocated inconsistently.</a:t>
            </a:r>
          </a:p>
        </p:txBody>
      </p:sp>
    </p:spTree>
    <p:extLst>
      <p:ext uri="{BB962C8B-B14F-4D97-AF65-F5344CB8AC3E}">
        <p14:creationId xmlns:p14="http://schemas.microsoft.com/office/powerpoint/2010/main" val="654511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1427E-C6B5-4D1B-A210-10C1068A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89D498-7419-4F2A-8454-29A7A0C5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SOLUTION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EC8B0-EEF5-47D7-995A-142EEC0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F57723-79DD-4438-A4A8-C17716C7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SilentSignal turns movement into governed human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EE3C2-260A-4C96-AF96-516481B6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One evidence chain replaces multiple disconnected handoffs.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1047750" y="3390900"/>
            <a:ext cx="9953625" cy="19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flow-0">
            <a:extLst xmlns:a="http://schemas.openxmlformats.org/drawingml/2006/main">
              <a:ext uri="{FF2B5EF4-FFF2-40B4-BE49-F238E27FC236}">
                <a16:creationId xmlns:a16="http://schemas.microsoft.com/office/drawing/2014/main" id="{C84C6692-5C82-43F4-AC2C-BA8C6F12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B08A9-0005-4FBD-8F16-5A602FD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11981-19D5-4798-9057-824BC3D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Reconcile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85A4C-9C6E-42F6-9E50-3C6ED1E1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Quality and freshness</a:t>
            </a:r>
          </a:p>
        </p:txBody>
      </p:sp>
      <p:sp>
        <p:nvSpPr>
          <p:cNvPr id="12" name="flow-1">
            <a:extLst xmlns:a="http://schemas.openxmlformats.org/drawingml/2006/main">
              <a:ext uri="{FF2B5EF4-FFF2-40B4-BE49-F238E27FC236}">
                <a16:creationId xmlns:a16="http://schemas.microsoft.com/office/drawing/2014/main" id="{825D5812-626E-4079-AE7F-D9AEB13B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55A4F-C0D8-4401-BA2F-B7F985B9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EF66D-3983-4DFB-A006-6719B01E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E7E40-BE5F-403F-8A6F-394A2E2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Five governed KPIs</a:t>
            </a:r>
          </a:p>
        </p:txBody>
      </p:sp>
      <p:sp>
        <p:nvSpPr>
          <p:cNvPr id="16" name="flow-2">
            <a:extLst xmlns:a="http://schemas.openxmlformats.org/drawingml/2006/main">
              <a:ext uri="{FF2B5EF4-FFF2-40B4-BE49-F238E27FC236}">
                <a16:creationId xmlns:a16="http://schemas.microsoft.com/office/drawing/2014/main" id="{C80BDAF3-3F9A-41EF-8CB7-1FC3773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899EA-E90D-44B0-8AA6-3CA24339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AA372-B83A-4252-A6EA-52B30CF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6CB5A-51C1-4604-A0B2-0AB7E152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Transparent graph</a:t>
            </a:r>
          </a:p>
        </p:txBody>
      </p:sp>
      <p:sp>
        <p:nvSpPr>
          <p:cNvPr id="20" name="flow-3">
            <a:extLst xmlns:a="http://schemas.openxmlformats.org/drawingml/2006/main">
              <a:ext uri="{FF2B5EF4-FFF2-40B4-BE49-F238E27FC236}">
                <a16:creationId xmlns:a16="http://schemas.microsoft.com/office/drawing/2014/main" id="{93968678-A1AC-4087-A1BF-4B256BFC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82D8E-61B8-46B6-9BEA-D3CC2D6E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8EDB0-D144-4703-89DB-39639EED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8C39A8-3C0F-4AD1-A16B-DE933D78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Reconciled drivers</a:t>
            </a:r>
          </a:p>
        </p:txBody>
      </p:sp>
      <p:sp>
        <p:nvSpPr>
          <p:cNvPr id="24" name="flow-4">
            <a:extLst xmlns:a="http://schemas.openxmlformats.org/drawingml/2006/main">
              <a:ext uri="{FF2B5EF4-FFF2-40B4-BE49-F238E27FC236}">
                <a16:creationId xmlns:a16="http://schemas.microsoft.com/office/drawing/2014/main" id="{9AE834E7-8287-4212-91CA-AE64A444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32E63-E68F-4F0F-8F6B-4A462AC5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A9B3FC-EE87-40AB-A91B-924627B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Qualify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D36C84-4B4F-43AB-8A79-DBF450D0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Confidence or abstain</a:t>
            </a:r>
          </a:p>
        </p:txBody>
      </p:sp>
      <p:sp>
        <p:nvSpPr>
          <p:cNvPr id="28" name="flow-5">
            <a:extLst xmlns:a="http://schemas.openxmlformats.org/drawingml/2006/main">
              <a:ext uri="{FF2B5EF4-FFF2-40B4-BE49-F238E27FC236}">
                <a16:creationId xmlns:a16="http://schemas.microsoft.com/office/drawing/2014/main" id="{04EE582E-9A2B-47D5-B417-0FC8016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0384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0A7D2-864B-4344-854B-E9113109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19450"/>
            <a:ext cx="70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C2762C-725A-4ED9-BB30-6370D33D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000500"/>
            <a:ext cx="1752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ADEBB-D8E5-44AD-9630-B9DB5F5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00550"/>
            <a:ext cx="1752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Persona-permitted step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CB929A-1164-4960-B841-EA440AE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05450"/>
            <a:ext cx="98679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Quantitative truth never leaves deterministic services; the narrative layer can only phrase validated evidence.</a:t>
            </a:r>
          </a:p>
        </p:txBody>
      </p:sp>
    </p:spTree>
    <p:extLst>
      <p:ext uri="{BB962C8B-B14F-4D97-AF65-F5344CB8AC3E}">
        <p14:creationId xmlns:p14="http://schemas.microsoft.com/office/powerpoint/2010/main" val="568816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EBC08F-A565-4583-BA53-72342AAD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269E8-CE92-4408-B51A-17F930C0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USERS AND VALUE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504CB-39CD-4816-9E61-C7FB02D9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5CF3A8-97A2-4886-ACCC-8104DDE3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same evidence supports role-specific decisions</a:t>
            </a:r>
          </a:p>
        </p:txBody>
      </p:sp>
      <p:sp>
        <p:nvSpPr>
          <p:cNvPr id="6" name="head-band">
            <a:extLst xmlns:a="http://schemas.openxmlformats.org/drawingml/2006/main">
              <a:ext uri="{FF2B5EF4-FFF2-40B4-BE49-F238E27FC236}">
                <a16:creationId xmlns:a16="http://schemas.microsoft.com/office/drawing/2014/main" id="{FBBA37C2-1139-4EE1-B406-EF0C2E5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542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FF"/>
          </a:solidFill>
          <a:ln xmlns:a="http://schemas.openxmlformats.org/drawingml/2006/main" w="9525">
            <a:solidFill>
              <a:srgbClr val="EFEDFF"/>
            </a:solidFill>
            <a:prstDash val="solid"/>
          </a:ln>
        </p:spPr>
      </p:sp>
      <p:sp>
        <p:nvSpPr>
          <p:cNvPr id="7" name="investigator-band">
            <a:extLst xmlns:a="http://schemas.openxmlformats.org/drawingml/2006/main">
              <a:ext uri="{FF2B5EF4-FFF2-40B4-BE49-F238E27FC236}">
                <a16:creationId xmlns:a16="http://schemas.microsoft.com/office/drawing/2014/main" id="{DDED3EA5-D4B0-4AB9-BE53-4680FCB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542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E8FA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96FCA-EDD4-43D9-9D89-AA51649E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Compliance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A2803-0FB5-45BA-90B3-38BE9E85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76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Regional AML Investigator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AA544-3B8B-4FAD-974A-43D50840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2C138-3822-4396-BBFD-F3CB301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2890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Which region and KPI movement should be prioritized?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EDC09-7E36-4D90-BB25-6B500950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792AC-7DB0-4447-8F81-73927F0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4805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Aggregate exposure, drivers, confidence, freshness, and SLA pressure.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22E3A-6743-4A96-BF4A-1B3BE595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PERMITTED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7DADB6-EE23-4468-A769-62BCC143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6720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Allocate capacity or request stronger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EC6C4-2A58-4F75-89DA-35BE3D64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054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6703B-00D5-4D6C-B6F4-F538DC6D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8635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No entity-detail access by default.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96ED3-CCFD-475A-81DB-1667C458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479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21AA76-4C32-48E7-B171-06C9A0EB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Which assigned pattern should be investigated next?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FE827-B8A9-468C-8E3E-171984D8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D5696F-E20D-4718-B7F9-AAA3FA9D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Masked entities, timing, branches, alternatives, and missing information.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FFF7AA-D986-479A-82B4-A3E72A66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PERMITTED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B47E2D-DCD4-4279-ABB9-D9A6D22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Consolidate events, refresh KYC, or monitor seasonality.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B9069D-1C6F-4A57-901C-D772F502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0540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675A53-5EB2-46E3-AD93-3AE7C4D0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86350"/>
            <a:ext cx="3333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Only configured regional detail.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096000" y="1657350"/>
            <a:ext cx="9525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8581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CF40CD-67B4-4059-BB99-D5FFCC35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3DC9C-6258-4AB6-BC74-D4D0493A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GOVERNED SCOPE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7ED4B-99AF-4EC1-A7CD-D80BD7B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94975C-6A9D-4DBD-BFB0-2F6609C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Three source contracts support five connected business KPIs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2BBB2-922D-449D-ABEA-ECC9D01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9F69D5-2A22-4CC9-8239-DB1E24D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6192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GRAIN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86777-50F7-43A9-98AF-D589A3E6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CADENCE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E6097-03C1-42FF-A4FA-0DBEFF42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000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SYNTHETIC ROWS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00050" y="1924050"/>
            <a:ext cx="107442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F5A383-9D2A-4C3F-BF15-75EBC56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Transactions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566E2-A3E0-4273-A6D4-4EEE6955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Transaction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5DCC8C-82DC-4392-B9B8-6F03BCA9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15 minutes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644A1-69E3-4CB2-A975-91A7CC98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16,917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00050" y="2514600"/>
            <a:ext cx="107442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1D836-74B4-4629-BF79-C2F56BF9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KYC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D27F0-160C-41B5-9AF0-98935252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Account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17710-DFAA-4D76-B544-3C700C1A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Daily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83F1A-E185-4DAF-85CC-EFE89C6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28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339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400050" y="3105150"/>
            <a:ext cx="107442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152C5E-0467-455D-A6FC-975F0775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7BC30B-94D2-48C5-B37C-56AD1A4B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Case-status event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70A33-CF6C-4895-B506-2B4BB97F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19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hours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9D4A2-81E0-490E-A333-363C8029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124</a:t>
            </a:r>
          </a:p>
        </p:txBody>
      </p:sp>
      <p:cxnSp>
        <p:nvCxnSpPr>
          <p:cNvPr id="62" name=""/>
          <p:cNvCxnSpPr/>
          <p:nvPr/>
        </p:nvCxnSpPr>
        <p:spPr>
          <a:xfrm xmlns:a="http://schemas.openxmlformats.org/drawingml/2006/main">
            <a:off x="400050" y="3695700"/>
            <a:ext cx="107442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4B7E8-5B58-44BC-9FDD-CC239B9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6381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OPERATIONAL KPI JOURNEY - CONNECTED, NOT CAUSAL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1000125" y="5124450"/>
            <a:ext cx="95440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28" name="kpi-0">
            <a:extLst xmlns:a="http://schemas.openxmlformats.org/drawingml/2006/main">
              <a:ext uri="{FF2B5EF4-FFF2-40B4-BE49-F238E27FC236}">
                <a16:creationId xmlns:a16="http://schemas.microsoft.com/office/drawing/2014/main" id="{32310389-3366-4A7A-8DF1-DA002E8B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9F5D-9D74-4A99-B6A9-D12D78E6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31495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Near-threshold
ratio</a:t>
            </a:r>
          </a:p>
        </p:txBody>
      </p:sp>
      <p:sp>
        <p:nvSpPr>
          <p:cNvPr id="30" name="kpi-1">
            <a:extLst xmlns:a="http://schemas.openxmlformats.org/drawingml/2006/main">
              <a:ext uri="{FF2B5EF4-FFF2-40B4-BE49-F238E27FC236}">
                <a16:creationId xmlns:a16="http://schemas.microsoft.com/office/drawing/2014/main" id="{523A2E5B-2035-442A-897D-FA2DCF6A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D2E7A4-2D8D-4F64-AD1C-9823DFBD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1495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Linked-pattern
exposure</a:t>
            </a:r>
          </a:p>
        </p:txBody>
      </p:sp>
      <p:sp>
        <p:nvSpPr>
          <p:cNvPr id="32" name="kpi-2">
            <a:extLst xmlns:a="http://schemas.openxmlformats.org/drawingml/2006/main">
              <a:ext uri="{FF2B5EF4-FFF2-40B4-BE49-F238E27FC236}">
                <a16:creationId xmlns:a16="http://schemas.microsoft.com/office/drawing/2014/main" id="{2F91FA23-239B-487C-9A72-FE55809A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1744E2-76EB-48FE-8E8F-C4B84564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1495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High-risk
clusters</a:t>
            </a:r>
          </a:p>
        </p:txBody>
      </p:sp>
      <p:sp>
        <p:nvSpPr>
          <p:cNvPr id="34" name="kpi-3">
            <a:extLst xmlns:a="http://schemas.openxmlformats.org/drawingml/2006/main">
              <a:ext uri="{FF2B5EF4-FFF2-40B4-BE49-F238E27FC236}">
                <a16:creationId xmlns:a16="http://schemas.microsoft.com/office/drawing/2014/main" id="{34A8A2B2-7C52-456E-82CE-57C4E92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F4626E-6F90-4B20-91A2-6D66CA12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1495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Investigation
yield</a:t>
            </a:r>
          </a:p>
        </p:txBody>
      </p:sp>
      <p:sp>
        <p:nvSpPr>
          <p:cNvPr id="36" name="kpi-4">
            <a:extLst xmlns:a="http://schemas.openxmlformats.org/drawingml/2006/main">
              <a:ext uri="{FF2B5EF4-FFF2-40B4-BE49-F238E27FC236}">
                <a16:creationId xmlns:a16="http://schemas.microsoft.com/office/drawing/2014/main" id="{3CA2F6C1-169A-4ED8-8495-9D3F8BFE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7720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2BC4E2-B4FF-403F-AC27-80C32533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314950"/>
            <a:ext cx="1428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Case SLA
risk</a:t>
            </a:r>
          </a:p>
        </p:txBody>
      </p:sp>
    </p:spTree>
    <p:extLst>
      <p:ext uri="{BB962C8B-B14F-4D97-AF65-F5344CB8AC3E}">
        <p14:creationId xmlns:p14="http://schemas.microsoft.com/office/powerpoint/2010/main" val="10215373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04330-AB8B-4981-9320-62A4E26F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DBAE3-DC5C-4E59-98AE-8A5A93D2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SCENARIO PROOF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77F9F-B2F4-4D47-99AE-21DA520A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95205B-145D-4D26-A396-B91FB2F2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Connected evidence reveals what thresholds miss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540F2-FEB1-4456-BD7F-AEBFC600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667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S1 - STRONG CONNECTED PATTERN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4A8AD-75E8-4FF0-ABC3-9CEFC173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61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9921C-FBE0-4296-A604-05E726C8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related new accounts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8C0CD-223F-416D-8F71-E5A23200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61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6BCA2-7F47-45D2-AC89-5B248CD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1AE11-CFEF-4682-AA8F-AD95B0F7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1619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4B7D1C-396C-4C6C-AA58-9F20CBC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47950"/>
            <a:ext cx="1638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days of repeated activity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153150" y="1657350"/>
            <a:ext cx="9525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11A57-B021-4F72-86BB-4983E99C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62100"/>
            <a:ext cx="4476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WHY IT BECOMES MATERIAL</a:t>
            </a:r>
          </a:p>
        </p:txBody>
      </p:sp>
      <p:sp>
        <p:nvSpPr>
          <p:cNvPr id="15" name="bullet-210">
            <a:extLst xmlns:a="http://schemas.openxmlformats.org/drawingml/2006/main">
              <a:ext uri="{FF2B5EF4-FFF2-40B4-BE49-F238E27FC236}">
                <a16:creationId xmlns:a16="http://schemas.microsoft.com/office/drawing/2014/main" id="{50AEE374-C10C-46B7-B5C9-A90CB461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F1888-EC8C-42C0-9E6A-25AD2825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002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Repeated near-threshold activity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46100-7A5A-4513-9692-A7365ABF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0505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Individual events sit below the illustrative threshold.</a:t>
            </a:r>
          </a:p>
        </p:txBody>
      </p:sp>
      <p:sp>
        <p:nvSpPr>
          <p:cNvPr id="18" name="bullet-302">
            <a:extLst xmlns:a="http://schemas.openxmlformats.org/drawingml/2006/main">
              <a:ext uri="{FF2B5EF4-FFF2-40B4-BE49-F238E27FC236}">
                <a16:creationId xmlns:a16="http://schemas.microsoft.com/office/drawing/2014/main" id="{BEFC77D1-F2F4-4FD9-B289-C475F31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43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0F4CD-4F0C-4779-A7DA-4A4D705C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Shared identifiers and beneficiaries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DFA4C-14C5-4EE1-B2F3-A7C8F4AB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Transparent relationships reveal one focused component.</a:t>
            </a:r>
          </a:p>
        </p:txBody>
      </p:sp>
      <p:sp>
        <p:nvSpPr>
          <p:cNvPr id="21" name="bullet-394">
            <a:extLst xmlns:a="http://schemas.openxmlformats.org/drawingml/2006/main">
              <a:ext uri="{FF2B5EF4-FFF2-40B4-BE49-F238E27FC236}">
                <a16:creationId xmlns:a16="http://schemas.microsoft.com/office/drawing/2014/main" id="{E6E6A80F-B0D2-4490-816D-C42BB3D8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A67E3-92B9-4357-973C-84106DFF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191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Fresh, complete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BFA24E-6DD0-4509-9DFA-8DC10F8E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57650"/>
            <a:ext cx="4191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Confidence passes the gate and supports an ALERT for human review.</a:t>
            </a:r>
          </a:p>
        </p:txBody>
      </p:sp>
      <p:sp>
        <p:nvSpPr>
          <p:cNvPr id="24" name="scenario-outcome">
            <a:extLst xmlns:a="http://schemas.openxmlformats.org/drawingml/2006/main">
              <a:ext uri="{FF2B5EF4-FFF2-40B4-BE49-F238E27FC236}">
                <a16:creationId xmlns:a16="http://schemas.microsoft.com/office/drawing/2014/main" id="{CDA15E28-97AC-4FC9-AF09-267A7B10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5410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BDED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8A7164-DD7E-42CD-A825-64304C6B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Threshold only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8720-B0AC-4047-B954-0ECA3F3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t>MISSES S1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9DE5F-EB9C-4288-BE8A-A58FDB94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Full SilentSignal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8278B0-9CFF-4E1B-A09B-F38E346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2915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ALERT</a:t>
            </a:r>
          </a:p>
        </p:txBody>
      </p:sp>
    </p:spTree>
    <p:extLst>
      <p:ext uri="{BB962C8B-B14F-4D97-AF65-F5344CB8AC3E}">
        <p14:creationId xmlns:p14="http://schemas.microsoft.com/office/powerpoint/2010/main" val="231259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C083E-6BD0-461D-BAC4-FFFD7B58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90508-EED2-46ED-98A2-57AACB5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DECISION QUALITY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9163E-2A9A-48B0-AC1F-58D251F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97ED5E-DD88-4C40-9B73-031806B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engine is designed to disagree, defer, or deny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16498-CAED-4B74-8D62-046EE1BA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Not every signal becomes an escalation.</a:t>
            </a:r>
          </a:p>
        </p:txBody>
      </p:sp>
      <p:sp>
        <p:nvSpPr>
          <p:cNvPr id="7" name="uncertainty-row-0">
            <a:extLst xmlns:a="http://schemas.openxmlformats.org/drawingml/2006/main">
              <a:ext uri="{FF2B5EF4-FFF2-40B4-BE49-F238E27FC236}">
                <a16:creationId xmlns:a16="http://schemas.microsoft.com/office/drawing/2014/main" id="{17130B72-DE82-4CEC-BC43-B0739C50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245F2-5F96-4F33-8C28-AC3DE3DE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B6E49-2F60-4BBD-9087-C5F4E2AB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MONITOR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6490E-63A5-4E97-823A-58847799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Seasonal activity matches expected turnover; show the legitimate alternative.</a:t>
            </a:r>
          </a:p>
        </p:txBody>
      </p:sp>
      <p:sp>
        <p:nvSpPr>
          <p:cNvPr id="11" name="uncertainty-row-1">
            <a:extLst xmlns:a="http://schemas.openxmlformats.org/drawingml/2006/main">
              <a:ext uri="{FF2B5EF4-FFF2-40B4-BE49-F238E27FC236}">
                <a16:creationId xmlns:a16="http://schemas.microsoft.com/office/drawing/2014/main" id="{E686291A-413E-41B7-9852-7C10AB2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5"/>
          </a:solidFill>
          <a:ln xmlns:a="http://schemas.openxmlformats.org/drawingml/2006/main" w="9525">
            <a:solidFill>
              <a:srgbClr val="FFF5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65E2F-48BA-4E66-8C30-BAFB08F5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A23C"/>
                </a:solidFill>
                <a:latin typeface="Arial"/>
                <a:ea typeface="Arial"/>
                <a:cs typeface="Arial"/>
              </a:defRPr>
            </a:pPr>
            <a:r>
              <a:t>S3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B81C9-F79A-4F49-9417-67D8E2AB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A23C"/>
                </a:solidFill>
                <a:latin typeface="Arial"/>
                <a:ea typeface="Arial"/>
                <a:cs typeface="Arial"/>
              </a:defRPr>
            </a:pPr>
            <a:r>
              <a:t>ABSTAIN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C935B-4E36-4100-BEF2-F00D91D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670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Stale KYC and incomplete mapping reduce confidence below 0.60.</a:t>
            </a:r>
          </a:p>
        </p:txBody>
      </p:sp>
      <p:sp>
        <p:nvSpPr>
          <p:cNvPr id="15" name="uncertainty-row-2">
            <a:extLst xmlns:a="http://schemas.openxmlformats.org/drawingml/2006/main">
              <a:ext uri="{FF2B5EF4-FFF2-40B4-BE49-F238E27FC236}">
                <a16:creationId xmlns:a16="http://schemas.microsoft.com/office/drawing/2014/main" id="{AF17808D-05FA-4F38-B6A5-6570B7AC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FF"/>
          </a:solidFill>
          <a:ln xmlns:a="http://schemas.openxmlformats.org/drawingml/2006/main" w="9525">
            <a:solidFill>
              <a:srgbClr val="EFE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EA679-ED22-454F-9FB4-51D6C30B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FDD80-38F0-453C-BA14-E18A20E5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PEER_BASED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240EE-2684-41D7-8150-153C77DD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Fourteen days of history trigger a labelled peer baseline and confidence cap.</a:t>
            </a:r>
          </a:p>
        </p:txBody>
      </p:sp>
      <p:sp>
        <p:nvSpPr>
          <p:cNvPr id="19" name="uncertainty-row-3">
            <a:extLst xmlns:a="http://schemas.openxmlformats.org/drawingml/2006/main">
              <a:ext uri="{FF2B5EF4-FFF2-40B4-BE49-F238E27FC236}">
                <a16:creationId xmlns:a16="http://schemas.microsoft.com/office/drawing/2014/main" id="{AC71FD17-00F5-4D6A-A1F3-3A20272A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0839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FF0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A6A42-495E-4C4F-AD2D-35F6247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66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t>S5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5BFE7-2DFF-400F-8978-0AC655593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24450"/>
            <a:ext cx="219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t>ACCESS_DENIED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2C5E4-5AD5-4D06-8832-C360E56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24450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WEST investigator cannot retrieve NORTH detail; denial occurs first.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1E9CC-8BDB-4D94-8BA5-7B87D66B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87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Business result: fewer unsupported escalations, clearer evidence requests, and demonstrable entitlement control.</a:t>
            </a:r>
          </a:p>
        </p:txBody>
      </p:sp>
    </p:spTree>
    <p:extLst>
      <p:ext uri="{BB962C8B-B14F-4D97-AF65-F5344CB8AC3E}">
        <p14:creationId xmlns:p14="http://schemas.microsoft.com/office/powerpoint/2010/main" val="1719536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E587F7-5A32-418D-92EA-19FEA687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839E02-A56D-46C7-9FF4-171A4F9F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RESPONSIBLE AI AND SECURITY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157CA-B160-476B-BE42-F209F9F0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5956B1-5B6A-4F6D-A914-5CD6796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50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LLM explains evidence; deterministic services own truth</a:t>
            </a:r>
          </a:p>
        </p:txBody>
      </p:sp>
      <p:sp>
        <p:nvSpPr>
          <p:cNvPr id="6" name="deterministic-band">
            <a:extLst xmlns:a="http://schemas.openxmlformats.org/drawingml/2006/main">
              <a:ext uri="{FF2B5EF4-FFF2-40B4-BE49-F238E27FC236}">
                <a16:creationId xmlns:a16="http://schemas.microsoft.com/office/drawing/2014/main" id="{9D005F3C-FED9-4CA0-B963-1F0E708B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E8FAF6"/>
            </a:solidFill>
            <a:prstDash val="solid"/>
          </a:ln>
        </p:spPr>
      </p:sp>
      <p:sp>
        <p:nvSpPr>
          <p:cNvPr id="7" name="narrative-band">
            <a:extLst xmlns:a="http://schemas.openxmlformats.org/drawingml/2006/main">
              <a:ext uri="{FF2B5EF4-FFF2-40B4-BE49-F238E27FC236}">
                <a16:creationId xmlns:a16="http://schemas.microsoft.com/office/drawing/2014/main" id="{4A3C46EE-1CC3-46E5-9F00-96C20EE7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383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FF"/>
          </a:solidFill>
          <a:ln xmlns:a="http://schemas.openxmlformats.org/drawingml/2006/main" w="9525">
            <a:solidFill>
              <a:srgbClr val="EFE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795FF-DF19-4048-83C6-33E8DC9C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Deterministic engine - executed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17FA4-1657-4C01-B8E5-AC48B6EE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38325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Narrative layer - optional</a:t>
            </a:r>
          </a:p>
        </p:txBody>
      </p:sp>
      <p:sp>
        <p:nvSpPr>
          <p:cNvPr id="10" name="bullet-278">
            <a:extLst xmlns:a="http://schemas.openxmlformats.org/drawingml/2006/main">
              <a:ext uri="{FF2B5EF4-FFF2-40B4-BE49-F238E27FC236}">
                <a16:creationId xmlns:a16="http://schemas.microsoft.com/office/drawing/2014/main" id="{CE0B16E8-8316-497D-8E78-6AC26F99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6A188-6858-4584-ACB8-0961A39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Source quality and freshness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49A5-3143-4D30-95BF-5EF16E74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3" name="bullet-334">
            <a:extLst xmlns:a="http://schemas.openxmlformats.org/drawingml/2006/main">
              <a:ext uri="{FF2B5EF4-FFF2-40B4-BE49-F238E27FC236}">
                <a16:creationId xmlns:a16="http://schemas.microsoft.com/office/drawing/2014/main" id="{DEEF8C17-D025-4915-91B2-3EEE17F8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48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D00E0-4F14-4266-9D55-AAAF7BFE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KPI values and baselines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EC496-B8DA-463E-9DD4-FB2E2662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6" name="bullet-390">
            <a:extLst xmlns:a="http://schemas.openxmlformats.org/drawingml/2006/main">
              <a:ext uri="{FF2B5EF4-FFF2-40B4-BE49-F238E27FC236}">
                <a16:creationId xmlns:a16="http://schemas.microsoft.com/office/drawing/2014/main" id="{A11949F3-08E7-445F-9BF5-C4C485E6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52EC60-C047-4CD1-A7FE-B4A02C05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Graph and review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285869-B4E2-4746-B4AE-F166010C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9" name="bullet-446">
            <a:extLst xmlns:a="http://schemas.openxmlformats.org/drawingml/2006/main">
              <a:ext uri="{FF2B5EF4-FFF2-40B4-BE49-F238E27FC236}">
                <a16:creationId xmlns:a16="http://schemas.microsoft.com/office/drawing/2014/main" id="{2DDF6E58-DA07-4A9A-840E-3D422E3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C7B11C-7B70-4C69-A673-D2005BF1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Drivers and reconciliation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74C0DD-A495-40E2-829E-D49035DB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2" name="bullet-502">
            <a:extLst xmlns:a="http://schemas.openxmlformats.org/drawingml/2006/main">
              <a:ext uri="{FF2B5EF4-FFF2-40B4-BE49-F238E27FC236}">
                <a16:creationId xmlns:a16="http://schemas.microsoft.com/office/drawing/2014/main" id="{AC786042-F921-40EF-89BE-AABBF02D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85052-5272-41D5-BAEB-D78D00BB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Confidence and abstention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9CF3A7-616A-49D2-BF6C-A4B2B33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5" name="bullet-558">
            <a:extLst xmlns:a="http://schemas.openxmlformats.org/drawingml/2006/main">
              <a:ext uri="{FF2B5EF4-FFF2-40B4-BE49-F238E27FC236}">
                <a16:creationId xmlns:a16="http://schemas.microsoft.com/office/drawing/2014/main" id="{AC5A8C07-C888-4E4D-99E8-3B7A9EE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3E791-82DF-4B87-898E-7A8479B7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Authorization and action selection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3CA18-9AA6-4D6B-8855-554037AA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8" name="bullet-278">
            <a:extLst xmlns:a="http://schemas.openxmlformats.org/drawingml/2006/main">
              <a:ext uri="{FF2B5EF4-FFF2-40B4-BE49-F238E27FC236}">
                <a16:creationId xmlns:a16="http://schemas.microsoft.com/office/drawing/2014/main" id="{FDE9B272-F827-4857-B0F6-B71B2C05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B4E624-DCB1-4F23-BE03-FDB530F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Phrase a validated packet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6D0A92-7101-4034-85DD-0C0EF75B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1" name="bullet-334">
            <a:extLst xmlns:a="http://schemas.openxmlformats.org/drawingml/2006/main">
              <a:ext uri="{FF2B5EF4-FFF2-40B4-BE49-F238E27FC236}">
                <a16:creationId xmlns:a16="http://schemas.microsoft.com/office/drawing/2014/main" id="{E106CC00-90E4-44D6-9959-5602F225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48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82C84A-37E4-4645-966B-8DE4B384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Adapt language by persona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6CE76-5362-4276-A316-F242C7B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861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4" name="bullet-390">
            <a:extLst xmlns:a="http://schemas.openxmlformats.org/drawingml/2006/main">
              <a:ext uri="{FF2B5EF4-FFF2-40B4-BE49-F238E27FC236}">
                <a16:creationId xmlns:a16="http://schemas.microsoft.com/office/drawing/2014/main" id="{A937F1BE-D7FB-438E-A7E0-2283C4E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81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E23E56-989C-426B-B9E8-72F537E6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147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Reference approved evidence IDs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9AB725-67D4-4D31-A899-8BC72936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7" name="bullet-446">
            <a:extLst xmlns:a="http://schemas.openxmlformats.org/drawingml/2006/main">
              <a:ext uri="{FF2B5EF4-FFF2-40B4-BE49-F238E27FC236}">
                <a16:creationId xmlns:a16="http://schemas.microsoft.com/office/drawing/2014/main" id="{0DB48628-8518-4511-B3DC-FB42233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14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A2FABC-88B4-49C6-A53B-E513FBFB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Use a deterministic fallback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1514AE-D43E-40EB-8CE4-1A0F0F5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529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0" name="bullet-502">
            <a:extLst xmlns:a="http://schemas.openxmlformats.org/drawingml/2006/main">
              <a:ext uri="{FF2B5EF4-FFF2-40B4-BE49-F238E27FC236}">
                <a16:creationId xmlns:a16="http://schemas.microsoft.com/office/drawing/2014/main" id="{C0F91F12-5CA8-4DE4-853E-D875BE2D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48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88CC9E5-A565-4B4B-A267-3EC32A8C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815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Never receive raw identifiers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16F6E-8960-48CA-92DD-7D6ABEF2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863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3" name="bullet-558">
            <a:extLst xmlns:a="http://schemas.openxmlformats.org/drawingml/2006/main">
              <a:ext uri="{FF2B5EF4-FFF2-40B4-BE49-F238E27FC236}">
                <a16:creationId xmlns:a16="http://schemas.microsoft.com/office/drawing/2014/main" id="{2BD44679-63AE-4846-9DDC-3941350A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E6E792-641D-454E-8A8A-63494E1F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49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Never choose an unapproved action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808AF-4E14-45CC-9601-DCE8937F6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97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cxnSp>
        <p:nvCxnSpPr>
          <p:cNvPr id="93" name=""/>
          <p:cNvCxnSpPr/>
          <p:nvPr/>
        </p:nvCxnSpPr>
        <p:spPr>
          <a:xfrm xmlns:a="http://schemas.openxmlformats.org/drawingml/2006/main">
            <a:off x="6096000" y="1638300"/>
            <a:ext cx="9525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A66252-7688-400E-9790-B17FE592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57900"/>
            <a:ext cx="7505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Required order: authorize -&gt; redact -&gt; narrate -&gt; validate claims</a:t>
            </a:r>
          </a:p>
        </p:txBody>
      </p:sp>
    </p:spTree>
    <p:extLst>
      <p:ext uri="{BB962C8B-B14F-4D97-AF65-F5344CB8AC3E}">
        <p14:creationId xmlns:p14="http://schemas.microsoft.com/office/powerpoint/2010/main" val="6641143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BF272-7CA7-4013-A6BC-B54E0EFA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17C76-C167-48D6-90B6-B570CD56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EVIDENCE OF VALUE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6789E-B411-42BD-AC27-B931C60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4DC415-FB84-4E4F-B493-DA730824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957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The full method passes designed scenarios that simpler methods cannot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9241E-323A-46BE-9091-7DD854AE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F1 ON SYNTHETIC ACCEPTANCE SET</a:t>
            </a:r>
          </a:p>
        </p:txBody>
      </p:sp>
      <p:sp>
        <p:nvSpPr>
          <p:cNvPr id="7" name="proof-1">
            <a:extLst xmlns:a="http://schemas.openxmlformats.org/drawingml/2006/main">
              <a:ext uri="{FF2B5EF4-FFF2-40B4-BE49-F238E27FC236}">
                <a16:creationId xmlns:a16="http://schemas.microsoft.com/office/drawing/2014/main" id="{B39F8C4C-7B8A-4951-98B3-C083C04F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714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4246A-ED7F-44CA-A081-1121939D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193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5 /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03D8D-CA69-4795-8BB8-76D722E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1752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scenario and control outcomes pass</a:t>
            </a:r>
          </a:p>
        </p:txBody>
      </p:sp>
      <p:sp>
        <p:nvSpPr>
          <p:cNvPr id="10" name="proof-2">
            <a:extLst xmlns:a="http://schemas.openxmlformats.org/drawingml/2006/main">
              <a:ext uri="{FF2B5EF4-FFF2-40B4-BE49-F238E27FC236}">
                <a16:creationId xmlns:a16="http://schemas.microsoft.com/office/drawing/2014/main" id="{E3C68ECF-2CF4-4BD6-B52E-413204DE4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3714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3D63D-36DA-41CA-8723-87635C2F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66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60EBE-6B82-46BB-A138-ECEED7A1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1752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automated tests pass</a:t>
            </a:r>
          </a:p>
        </p:txBody>
      </p:sp>
      <p:sp>
        <p:nvSpPr>
          <p:cNvPr id="13" name="proof-3">
            <a:extLst xmlns:a="http://schemas.openxmlformats.org/drawingml/2006/main">
              <a:ext uri="{FF2B5EF4-FFF2-40B4-BE49-F238E27FC236}">
                <a16:creationId xmlns:a16="http://schemas.microsoft.com/office/drawing/2014/main" id="{5E7CF403-9D01-4225-935F-C084DF3D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43400"/>
            <a:ext cx="3714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156499-EABB-443F-A3E7-9F8E4C04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1428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F29C6-2EFB-4D28-80BD-50C89622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LLM calls, tokens, and measured model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52540-B15C-4FEC-B2E0-80AD1420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744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Acceptance results prove implementation against designed ground truth - not production model accuracy.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00050" y="1943100"/>
          <a:ext xmlns:a="http://schemas.openxmlformats.org/drawingml/2006/main" cx="64770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cc26e440c14055"/>
          </a:graphicData>
        </a:graphic>
      </p:graphicFrame>
    </p:spTree>
    <p:extLst>
      <p:ext uri="{BB962C8B-B14F-4D97-AF65-F5344CB8AC3E}">
        <p14:creationId xmlns:p14="http://schemas.microsoft.com/office/powerpoint/2010/main" val="1193560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B3125A-8182-41AA-A429-6CCCF13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030AF-0E3C-4D17-A31E-ADA916F4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BUSINESS CASE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FF661-2047-4A1D-A5E4-8CDAC934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7F8172-1A1F-4638-B1CD-985C4BB1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Pilot economics can be measured without invented ROI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5845B-E7D0-479F-A063-69B43980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Use institution-approved volumes, handling costs, and control values during the pilot.</a:t>
            </a:r>
          </a:p>
        </p:txBody>
      </p:sp>
      <p:sp>
        <p:nvSpPr>
          <p:cNvPr id="7" name="value-band-0">
            <a:extLst xmlns:a="http://schemas.openxmlformats.org/drawingml/2006/main">
              <a:ext uri="{FF2B5EF4-FFF2-40B4-BE49-F238E27FC236}">
                <a16:creationId xmlns:a16="http://schemas.microsoft.com/office/drawing/2014/main" id="{A6F1D10F-CA88-4124-BE0A-54BA1427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083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AF6"/>
          </a:solidFill>
          <a:ln xmlns:a="http://schemas.openxmlformats.org/drawingml/2006/main" w="9525">
            <a:solidFill>
              <a:srgbClr val="E8FA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21467-0266-44C1-83AC-FD0D882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Investigator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45D1F-5CA0-4D5C-BB26-E15C1B5A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Cases reviewed x minutes saved per case / 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CC2F1-0B5B-408E-9283-72EAECF3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Hours returned to risk review</a:t>
            </a:r>
          </a:p>
        </p:txBody>
      </p:sp>
      <p:sp>
        <p:nvSpPr>
          <p:cNvPr id="11" name="value-band-1">
            <a:extLst xmlns:a="http://schemas.openxmlformats.org/drawingml/2006/main">
              <a:ext uri="{FF2B5EF4-FFF2-40B4-BE49-F238E27FC236}">
                <a16:creationId xmlns:a16="http://schemas.microsoft.com/office/drawing/2014/main" id="{1D37B279-7E83-4ECD-AC5C-09F35227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1083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EAF3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B8E68-8B3E-4272-BC87-FF170231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False escalation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64914-AB45-4A60-AAF1-1C994ACC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Unsupported escalations avoided x approved review cost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684DB-B269-452F-8716-4B446E3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Avoided handling cost</a:t>
            </a:r>
          </a:p>
        </p:txBody>
      </p:sp>
      <p:sp>
        <p:nvSpPr>
          <p:cNvPr id="15" name="value-band-2">
            <a:extLst xmlns:a="http://schemas.openxmlformats.org/drawingml/2006/main">
              <a:ext uri="{FF2B5EF4-FFF2-40B4-BE49-F238E27FC236}">
                <a16:creationId xmlns:a16="http://schemas.microsoft.com/office/drawing/2014/main" id="{07B2A3EA-4A78-45EB-B857-4E29754D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839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FF"/>
          </a:solidFill>
          <a:ln xmlns:a="http://schemas.openxmlformats.org/drawingml/2006/main" w="9525">
            <a:solidFill>
              <a:srgbClr val="EFE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F76A8-ADE0-41DF-B5E4-E3B1EC11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SLA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3E8055-555C-4125-AF3E-F6050814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2950"/>
            <a:ext cx="542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8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At-risk cases prevented from breaching x internal control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D8534-0556-477F-9370-E2A8F3BE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095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Operational risk reduction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5791200"/>
            <a:ext cx="10839450" cy="191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603C74-AC64-4113-AEAA-3BC05B1B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Decision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FFD64-8804-4905-8BFC-0CC29EE5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924550"/>
            <a:ext cx="8858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Proceed only if measured benefit, evidence quality, security performance, and adoption all pass agreed pilot gates.</a:t>
            </a:r>
          </a:p>
        </p:txBody>
      </p:sp>
    </p:spTree>
    <p:extLst>
      <p:ext uri="{BB962C8B-B14F-4D97-AF65-F5344CB8AC3E}">
        <p14:creationId xmlns:p14="http://schemas.microsoft.com/office/powerpoint/2010/main" val="29143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9FAFA4-1094-4C59-9E53-31C79FFF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281E4-CDE8-41C9-86BD-FB18B3B2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PILOT DESIGN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D81E6-66D3-424A-8FF0-621B1BF0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B7D0D3-B058-4E8E-A7F6-9E65CF7D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controlled pilot tests value without widening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FE6C9-082B-4918-B4B3-9B92C6BB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8772"/>
                </a:solidFill>
                <a:latin typeface="Arial"/>
                <a:ea typeface="Arial"/>
                <a:cs typeface="Arial"/>
              </a:defRPr>
            </a:pPr>
            <a:r>
              <a:t>IN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9FA32-3F34-4576-AF44-CDE3A477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5A5A"/>
                </a:solidFill>
                <a:latin typeface="Arial"/>
                <a:ea typeface="Arial"/>
                <a:cs typeface="Arial"/>
              </a:defRPr>
            </a:pPr>
            <a:r>
              <a:t>EXPLICITLY OUT OF SCOPE</a:t>
            </a:r>
          </a:p>
        </p:txBody>
      </p:sp>
      <p:sp>
        <p:nvSpPr>
          <p:cNvPr id="8" name="bullet-210">
            <a:extLst xmlns:a="http://schemas.openxmlformats.org/drawingml/2006/main">
              <a:ext uri="{FF2B5EF4-FFF2-40B4-BE49-F238E27FC236}">
                <a16:creationId xmlns:a16="http://schemas.microsoft.com/office/drawing/2014/main" id="{5B213995-2083-4936-8C04-1AC79EDA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BF334-887A-447A-992C-F9B409F2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Three non-production source extracts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E5DB3-D2C5-4DA6-B9DF-B3292388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1" name="bullet-267">
            <a:extLst xmlns:a="http://schemas.openxmlformats.org/drawingml/2006/main">
              <a:ext uri="{FF2B5EF4-FFF2-40B4-BE49-F238E27FC236}">
                <a16:creationId xmlns:a16="http://schemas.microsoft.com/office/drawing/2014/main" id="{C0EB8028-835B-4B96-A96B-E8681163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3501B-DE3D-451B-80BB-7CC9C88E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Five governed KPI contracts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961D-D68E-4EA9-8921-AB137420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47975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4" name="bullet-324">
            <a:extLst xmlns:a="http://schemas.openxmlformats.org/drawingml/2006/main">
              <a:ext uri="{FF2B5EF4-FFF2-40B4-BE49-F238E27FC236}">
                <a16:creationId xmlns:a16="http://schemas.microsoft.com/office/drawing/2014/main" id="{3C9DB11F-00E1-48AF-9712-27DD5D6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5700A-BB85-4352-B835-DDA9E630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Two personas and region entitlements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35966-6A8F-43A6-B6A5-8BFF048D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17" name="bullet-381">
            <a:extLst xmlns:a="http://schemas.openxmlformats.org/drawingml/2006/main">
              <a:ext uri="{FF2B5EF4-FFF2-40B4-BE49-F238E27FC236}">
                <a16:creationId xmlns:a16="http://schemas.microsoft.com/office/drawing/2014/main" id="{C2EC2951-C306-457B-94E0-01452816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36D76-4E4B-4DC5-B41E-9EB72DAC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Five canonical acceptance scenarios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DA6C08-BF21-4834-993B-182991F7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0" name="bullet-438">
            <a:extLst xmlns:a="http://schemas.openxmlformats.org/drawingml/2006/main">
              <a:ext uri="{FF2B5EF4-FFF2-40B4-BE49-F238E27FC236}">
                <a16:creationId xmlns:a16="http://schemas.microsoft.com/office/drawing/2014/main" id="{94A69D56-3444-47CF-83E1-D9685F28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A475A4-5B9C-4670-ACCF-85CCA462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Feedback, telemetry, and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E0A86-EBA1-494E-97BB-83ADD61E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3" name="bullet-495">
            <a:extLst xmlns:a="http://schemas.openxmlformats.org/drawingml/2006/main">
              <a:ext uri="{FF2B5EF4-FFF2-40B4-BE49-F238E27FC236}">
                <a16:creationId xmlns:a16="http://schemas.microsoft.com/office/drawing/2014/main" id="{3E4E59CB-FC84-4783-B4B2-41ADC27F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8EC3F-966A-4BFC-9C9F-E5AA876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Human-approved actions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09C9A-77CC-418D-B247-112218F6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6" name="bullet-210">
            <a:extLst xmlns:a="http://schemas.openxmlformats.org/drawingml/2006/main">
              <a:ext uri="{FF2B5EF4-FFF2-40B4-BE49-F238E27FC236}">
                <a16:creationId xmlns:a16="http://schemas.microsoft.com/office/drawing/2014/main" id="{F61A0A3A-F18A-4D40-BCB0-D92C892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66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562A9-A95B-4070-B282-F79D730A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Production customer data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CD0A1-6C6A-418A-8D4E-582D64A5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05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29" name="bullet-267">
            <a:extLst xmlns:a="http://schemas.openxmlformats.org/drawingml/2006/main">
              <a:ext uri="{FF2B5EF4-FFF2-40B4-BE49-F238E27FC236}">
                <a16:creationId xmlns:a16="http://schemas.microsoft.com/office/drawing/2014/main" id="{6EB440FD-F37E-462D-AEEB-5B37275C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1B9880-86D1-47EF-BD87-6E4C0F9C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4317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Automatic STR filing or account freeze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8F4C25-1383-4099-8881-4C84B44A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47975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2" name="bullet-324">
            <a:extLst xmlns:a="http://schemas.openxmlformats.org/drawingml/2006/main">
              <a:ext uri="{FF2B5EF4-FFF2-40B4-BE49-F238E27FC236}">
                <a16:creationId xmlns:a16="http://schemas.microsoft.com/office/drawing/2014/main" id="{747EC44A-1724-4345-8C07-5BE1BB69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30C506-4352-4509-A2BF-72A10412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Autonomous case disposition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E3FE7A-F9D5-4B24-96B5-F3AA1A7B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909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5" name="bullet-381">
            <a:extLst xmlns:a="http://schemas.openxmlformats.org/drawingml/2006/main">
              <a:ext uri="{FF2B5EF4-FFF2-40B4-BE49-F238E27FC236}">
                <a16:creationId xmlns:a16="http://schemas.microsoft.com/office/drawing/2014/main" id="{D3B57323-45BA-47CD-A618-9874739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95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8E1FA7-A0E1-4E36-B96C-6C1FC225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2902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Enterprise identity replacement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3C49CC-1482-4BCE-B43A-9F2918DD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33825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38" name="bullet-438">
            <a:extLst xmlns:a="http://schemas.openxmlformats.org/drawingml/2006/main">
              <a:ext uri="{FF2B5EF4-FFF2-40B4-BE49-F238E27FC236}">
                <a16:creationId xmlns:a16="http://schemas.microsoft.com/office/drawing/2014/main" id="{52287247-6894-4AF3-B52B-D8D13AE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C10705-7249-48D5-B9F4-F877B051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Live streaming or core-system write-back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BCB38F-8F4A-4668-AA49-1AA43E81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767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sp>
        <p:nvSpPr>
          <p:cNvPr id="41" name="bullet-495">
            <a:extLst xmlns:a="http://schemas.openxmlformats.org/drawingml/2006/main">
              <a:ext uri="{FF2B5EF4-FFF2-40B4-BE49-F238E27FC236}">
                <a16:creationId xmlns:a16="http://schemas.microsoft.com/office/drawing/2014/main" id="{2F6560E7-7454-412E-AAA7-235233B9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25CA54-20EB-4CA2-B9CF-87885394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476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Real-world accuracy claim from synthetic data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7A5876-585D-4AAC-90B9-A29C23DB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019675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</p:txBody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6096000" y="1581150"/>
            <a:ext cx="9525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5" name="pilot-team">
            <a:extLst xmlns:a="http://schemas.openxmlformats.org/drawingml/2006/main">
              <a:ext uri="{FF2B5EF4-FFF2-40B4-BE49-F238E27FC236}">
                <a16:creationId xmlns:a16="http://schemas.microsoft.com/office/drawing/2014/main" id="{99090663-E2AB-423E-AA75-1AA1A69C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0839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ADD0CD-97FD-4849-9B1F-CA0D7A26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Pilot team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1DCD07-FA33-4FE6-9FB0-A1BB20E4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24525"/>
            <a:ext cx="876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83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Executive sponsor  •  Compliance SME  •  Product owner  •  Data/analytics engineer  •  Security owner  •  Investigator reviewers</a:t>
            </a:r>
          </a:p>
        </p:txBody>
      </p:sp>
    </p:spTree>
    <p:extLst>
      <p:ext uri="{BB962C8B-B14F-4D97-AF65-F5344CB8AC3E}">
        <p14:creationId xmlns:p14="http://schemas.microsoft.com/office/powerpoint/2010/main" val="125273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38190E-A3CB-4A73-82D0-73DB0717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61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SILENTSIGNAL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81A78-4916-46E1-9E86-FD4E1C41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860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IMPLEMENTATION ROADMAP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514350"/>
            <a:ext cx="11391900" cy="191"/>
          </a:xfrm>
          <a:prstGeom xmlns:a="http://schemas.openxmlformats.org/drawingml/2006/main" prst="straightConnector1">
            <a:avLst/>
          </a:prstGeom>
          <a:ln xmlns:a="http://schemas.openxmlformats.org/drawingml/2006/main" w="6668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2B74A-6DBC-4488-9936-EFEB0941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48425"/>
            <a:ext cx="533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2658E3-5366-4D46-B098-7F5F9764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twelve-week pilot moves from governance to a scale decision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1123950" y="5143500"/>
            <a:ext cx="9620250" cy="19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phase-0">
            <a:extLst xmlns:a="http://schemas.openxmlformats.org/drawingml/2006/main">
              <a:ext uri="{FF2B5EF4-FFF2-40B4-BE49-F238E27FC236}">
                <a16:creationId xmlns:a16="http://schemas.microsoft.com/office/drawing/2014/main" id="{47BE6927-41EE-483C-9C6E-97F0D7CA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2476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CDB31-E3ED-41DA-BD6A-B0E7E190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WEEKS 1-2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78335-C0B7-4961-8082-2AE97938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Govern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81FAC-C510-4514-AB13-6C4944DF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20002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Confirm owners, source contracts, thresholds, entitlements, and success gates.</a:t>
            </a:r>
          </a:p>
        </p:txBody>
      </p:sp>
      <p:sp>
        <p:nvSpPr>
          <p:cNvPr id="11" name="phase-dot-0">
            <a:extLst xmlns:a="http://schemas.openxmlformats.org/drawingml/2006/main">
              <a:ext uri="{FF2B5EF4-FFF2-40B4-BE49-F238E27FC236}">
                <a16:creationId xmlns:a16="http://schemas.microsoft.com/office/drawing/2014/main" id="{D4F7F43F-5303-4817-A4C8-D157A0B4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12" name="phase-1">
            <a:extLst xmlns:a="http://schemas.openxmlformats.org/drawingml/2006/main">
              <a:ext uri="{FF2B5EF4-FFF2-40B4-BE49-F238E27FC236}">
                <a16:creationId xmlns:a16="http://schemas.microsoft.com/office/drawing/2014/main" id="{C5A20912-B8BC-4245-8421-25068480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476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1D153-837E-42EC-831B-524EA56C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WEEKS 3-6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F7BEA-1DC8-475D-9BC4-D35D79FC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F1369-653A-45E8-B569-AEFB8A23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20002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Ingest non-production extracts, reconcile quality, and calibrate governed KPIs.</a:t>
            </a:r>
          </a:p>
        </p:txBody>
      </p:sp>
      <p:sp>
        <p:nvSpPr>
          <p:cNvPr id="16" name="phase-dot-1">
            <a:extLst xmlns:a="http://schemas.openxmlformats.org/drawingml/2006/main">
              <a:ext uri="{FF2B5EF4-FFF2-40B4-BE49-F238E27FC236}">
                <a16:creationId xmlns:a16="http://schemas.microsoft.com/office/drawing/2014/main" id="{ED96C63B-18EE-4358-820A-CDF203F5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17" name="phase-2">
            <a:extLst xmlns:a="http://schemas.openxmlformats.org/drawingml/2006/main">
              <a:ext uri="{FF2B5EF4-FFF2-40B4-BE49-F238E27FC236}">
                <a16:creationId xmlns:a16="http://schemas.microsoft.com/office/drawing/2014/main" id="{4495A1F9-26F4-4B60-AC87-71D89C7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2476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F2F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76532-789C-4969-A432-DD41939F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WEEKS 7-10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88949-713B-4A4A-9DA7-0C2C44C3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24F22C-5EED-4A81-9862-B9F88E03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19450"/>
            <a:ext cx="20002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Run scenarios, error review, security tests, adoption sessions, and value measurement.</a:t>
            </a:r>
          </a:p>
        </p:txBody>
      </p:sp>
      <p:sp>
        <p:nvSpPr>
          <p:cNvPr id="21" name="phase-dot-2">
            <a:extLst xmlns:a="http://schemas.openxmlformats.org/drawingml/2006/main">
              <a:ext uri="{FF2B5EF4-FFF2-40B4-BE49-F238E27FC236}">
                <a16:creationId xmlns:a16="http://schemas.microsoft.com/office/drawing/2014/main" id="{70E4A857-C34C-4565-8420-A7285303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CC0"/>
          </a:solidFill>
          <a:ln xmlns:a="http://schemas.openxmlformats.org/drawingml/2006/main" w="9525">
            <a:solidFill>
              <a:srgbClr val="58DCC0"/>
            </a:solidFill>
            <a:prstDash val="solid"/>
          </a:ln>
        </p:spPr>
      </p:sp>
      <p:sp>
        <p:nvSpPr>
          <p:cNvPr id="22" name="phase-3">
            <a:extLst xmlns:a="http://schemas.openxmlformats.org/drawingml/2006/main">
              <a:ext uri="{FF2B5EF4-FFF2-40B4-BE49-F238E27FC236}">
                <a16:creationId xmlns:a16="http://schemas.microsoft.com/office/drawing/2014/main" id="{65AF275C-307B-4C73-9195-99A928B5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476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DFF"/>
          </a:solidFill>
          <a:ln xmlns:a="http://schemas.openxmlformats.org/drawingml/2006/main" w="9525">
            <a:solidFill>
              <a:srgbClr val="EFE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E4F04-821E-4413-AE11-1199875B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2000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57D9"/>
                </a:solidFill>
                <a:latin typeface="Arial"/>
                <a:ea typeface="Arial"/>
                <a:cs typeface="Arial"/>
              </a:defRPr>
            </a:pPr>
            <a:r>
              <a:t>WEEKS 11-12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3B428-0B6D-40FD-97C0-51C5D03A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2000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9C049-63DC-4770-B532-50691D7D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19450"/>
            <a:ext cx="20002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t>Present evidence, risks, business case, and recommendation to stop, iterate, or scale.</a:t>
            </a:r>
          </a:p>
        </p:txBody>
      </p:sp>
      <p:sp>
        <p:nvSpPr>
          <p:cNvPr id="26" name="phase-dot-3">
            <a:extLst xmlns:a="http://schemas.openxmlformats.org/drawingml/2006/main">
              <a:ext uri="{FF2B5EF4-FFF2-40B4-BE49-F238E27FC236}">
                <a16:creationId xmlns:a16="http://schemas.microsoft.com/office/drawing/2014/main" id="{F7D8F48A-7E19-4B5A-B9CB-679FA711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9911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B5C7F7-2263-4DA6-A840-E42E2E3A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9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Exit criteria: governed accuracy  •  correct abstention  •  zero entitlement leakage  •  measurable operational benefit  •  reviewer adoption</a:t>
            </a:r>
          </a:p>
        </p:txBody>
      </p:sp>
    </p:spTree>
    <p:extLst>
      <p:ext uri="{BB962C8B-B14F-4D97-AF65-F5344CB8AC3E}">
        <p14:creationId xmlns:p14="http://schemas.microsoft.com/office/powerpoint/2010/main" val="16648634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C2A7B-5276-481B-89A8-3B8E32D1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2952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DECISION REQUEST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0660C-9F85-4D7F-BA4D-BD7CA02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9429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286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a 12-week controlled SilentSignal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D3920-86AA-46DF-97B4-7D23F2CE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Provide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1C101-8E54-4873-899A-D757F812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57500"/>
            <a:ext cx="8763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3E8F2"/>
                </a:solidFill>
                <a:latin typeface="Arial"/>
                <a:ea typeface="Arial"/>
                <a:cs typeface="Arial"/>
              </a:defRPr>
            </a:pPr>
            <a:r>
              <a:t>an executive sponsor, compliance SME time, investigator reviewers, security review, and non-production source extracts.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95300" y="3962400"/>
            <a:ext cx="10287000" cy="191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5516A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3C14C-58CA-4A5C-A06D-0749D9A6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8DCC0"/>
                </a:solidFill>
                <a:latin typeface="Arial"/>
                <a:ea typeface="Arial"/>
                <a:cs typeface="Arial"/>
              </a:defRPr>
            </a:pPr>
            <a:r>
              <a:t>Pilot success means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57073-EB38-4B96-A3AE-7FAC8790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9906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488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better prioritization, provable evidence quality, correct abstention, secure role behavior, and measurable operational benefit - without autonomous customer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B0A3C-D027-46AC-9175-7DD2A43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952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CD"/>
                </a:solidFill>
                <a:latin typeface="Arial"/>
                <a:ea typeface="Arial"/>
                <a:cs typeface="Arial"/>
              </a:defRPr>
            </a:pPr>
            <a:r>
              <a:t>SilentSignal: governed movement -&gt; traceable evidence -&gt; authorized human action</a:t>
            </a:r>
          </a:p>
        </p:txBody>
      </p:sp>
      <p:sp>
        <p:nvSpPr>
          <p:cNvPr id="9" name="close-purple">
            <a:extLst xmlns:a="http://schemas.openxmlformats.org/drawingml/2006/main">
              <a:ext uri="{FF2B5EF4-FFF2-40B4-BE49-F238E27FC236}">
                <a16:creationId xmlns:a16="http://schemas.microsoft.com/office/drawing/2014/main" id="{2B3248E2-769C-4F0E-A857-38251544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2197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57D9"/>
          </a:solidFill>
          <a:ln xmlns:a="http://schemas.openxmlformats.org/drawingml/2006/main" w="9525">
            <a:solidFill>
              <a:srgbClr val="6657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5071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2026-08-30T06:43:08.0770000Z</dcterms:created>
  <dcterms:modified xsi:type="dcterms:W3CDTF">2026-08-30T06:43:08.0770000Z</dcterms:modified>
</coreProperties>
</file>